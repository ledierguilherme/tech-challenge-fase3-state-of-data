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Cargos mais comuns em Dados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Respondentes 2025</c:v>
                </c:pt>
              </c:strCache>
            </c:strRef>
          </c:tx>
          <c:spPr>
            <a:solidFill>
              <a:srgbClr val="2E43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Analista de Dados</c:v>
                  </c:pt>
                  <c:pt idx="1">
                    <c:v>Eng. Dados/Arquiteto</c:v>
                  </c:pt>
                  <c:pt idx="2">
                    <c:v>Cientista de Dados</c:v>
                  </c:pt>
                  <c:pt idx="3">
                    <c:v>Analista de BI</c:v>
                  </c:pt>
                  <c:pt idx="4">
                    <c:v>Outra opção</c:v>
                  </c:pt>
                  <c:pt idx="5">
                    <c:v>Analista de Negócios</c:v>
                  </c:pt>
                  <c:pt idx="6">
                    <c:v>Analytics Engineer</c:v>
                  </c:pt>
                  <c:pt idx="7">
                    <c:v>ML/AI Engineer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599</c:v>
                </c:pt>
                <c:pt idx="1">
                  <c:v>430</c:v>
                </c:pt>
                <c:pt idx="2">
                  <c:v>424</c:v>
                </c:pt>
                <c:pt idx="3">
                  <c:v>215</c:v>
                </c:pt>
                <c:pt idx="4">
                  <c:v>206</c:v>
                </c:pt>
                <c:pt idx="5">
                  <c:v>141</c:v>
                </c:pt>
                <c:pt idx="6">
                  <c:v>135</c:v>
                </c:pt>
                <c:pt idx="7">
                  <c:v>106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Distribuição de senioridade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Júnior</c:v>
                </c:pt>
              </c:strCache>
            </c:strRef>
          </c:tx>
          <c:spPr>
            <a:solidFill>
              <a:srgbClr val="E8973B"/>
            </a:solidFill>
            <a:ln w="31750" cap="flat">
              <a:solidFill>
                <a:srgbClr val="E897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73B"/>
              </a:solidFill>
              <a:ln w="9525" cap="flat">
                <a:solidFill>
                  <a:srgbClr val="E897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27.1</c:v>
                </c:pt>
                <c:pt idx="1">
                  <c:v>22.7</c:v>
                </c:pt>
                <c:pt idx="2">
                  <c:v>20.7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Pleno</c:v>
                </c:pt>
              </c:strCache>
            </c:strRef>
          </c:tx>
          <c:spPr>
            <a:solidFill>
              <a:srgbClr val="2E4373"/>
            </a:solidFill>
            <a:ln w="31750" cap="flat">
              <a:solidFill>
                <a:srgbClr val="2E43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4373"/>
              </a:solidFill>
              <a:ln w="9525" cap="flat">
                <a:solidFill>
                  <a:srgbClr val="2E43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36.1</c:v>
                </c:pt>
                <c:pt idx="1">
                  <c:v>36.1</c:v>
                </c:pt>
                <c:pt idx="2">
                  <c:v>31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Sênior</c:v>
                </c:pt>
              </c:strCache>
            </c:strRef>
          </c:tx>
          <c:spPr>
            <a:solidFill>
              <a:srgbClr val="1D9E75"/>
            </a:solidFill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36.8</c:v>
                </c:pt>
                <c:pt idx="1">
                  <c:v>41.2</c:v>
                </c:pt>
                <c:pt idx="2">
                  <c:v>48.3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50" b="0" i="0" u="none" strike="noStrike">
                <a:solidFill>
                  <a:srgbClr val="000000"/>
                </a:solidFill>
                <a:latin typeface="Arial"/>
              </a:rPr>
              <a:t>Modelo de trabalho (%, só existe a partir de 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2E43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100% remoto</c:v>
                  </c:pt>
                  <c:pt idx="1">
                    <c:v>100% presencial</c:v>
                  </c:pt>
                  <c:pt idx="2">
                    <c:v>Híbrido c/ dias fixos</c:v>
                  </c:pt>
                  <c:pt idx="3">
                    <c:v>Híbrido flexível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45.7</c:v>
                </c:pt>
                <c:pt idx="1">
                  <c:v>16.3</c:v>
                </c:pt>
                <c:pt idx="2">
                  <c:v>17.5</c:v>
                </c:pt>
                <c:pt idx="3">
                  <c:v>20.5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100% remoto</c:v>
                  </c:pt>
                  <c:pt idx="1">
                    <c:v>100% presencial</c:v>
                  </c:pt>
                  <c:pt idx="2">
                    <c:v>Híbrido c/ dias fixos</c:v>
                  </c:pt>
                  <c:pt idx="3">
                    <c:v>Híbrido flexível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39.7</c:v>
                </c:pt>
                <c:pt idx="1">
                  <c:v>20.8</c:v>
                </c:pt>
                <c:pt idx="2">
                  <c:v>20</c:v>
                </c:pt>
                <c:pt idx="3">
                  <c:v>19.5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Salário médio Sênior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ML/AI Engineer</c:v>
                  </c:pt>
                  <c:pt idx="1">
                    <c:v>Product Manager</c:v>
                  </c:pt>
                  <c:pt idx="2">
                    <c:v>Dev/Eng. Software</c:v>
                  </c:pt>
                  <c:pt idx="3">
                    <c:v>Eng. Dados/Arquiteto</c:v>
                  </c:pt>
                  <c:pt idx="4">
                    <c:v>Cientista de Dados</c:v>
                  </c:pt>
                  <c:pt idx="5">
                    <c:v>Analytics Engineer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25000</c:v>
                </c:pt>
                <c:pt idx="1">
                  <c:v>19225</c:v>
                </c:pt>
                <c:pt idx="2">
                  <c:v>18928</c:v>
                </c:pt>
                <c:pt idx="3">
                  <c:v>18478</c:v>
                </c:pt>
                <c:pt idx="4">
                  <c:v>17080</c:v>
                </c:pt>
                <c:pt idx="5">
                  <c:v>16350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Gap salarial de gênero (R$/mês)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Salário médio — Masculino</c:v>
                </c:pt>
              </c:strCache>
            </c:strRef>
          </c:tx>
          <c:spPr>
            <a:solidFill>
              <a:srgbClr val="2E4373"/>
            </a:solidFill>
            <a:ln w="31750" cap="flat">
              <a:solidFill>
                <a:srgbClr val="2E43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4373"/>
              </a:solidFill>
              <a:ln w="9525" cap="flat">
                <a:solidFill>
                  <a:srgbClr val="2E43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10955</c:v>
                </c:pt>
                <c:pt idx="1">
                  <c:v>12587</c:v>
                </c:pt>
                <c:pt idx="2">
                  <c:v>13822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Salário médio — Feminino</c:v>
                </c:pt>
              </c:strCache>
            </c:strRef>
          </c:tx>
          <c:spPr>
            <a:solidFill>
              <a:srgbClr val="D9534F"/>
            </a:solidFill>
            <a:ln w="31750" cap="flat">
              <a:solidFill>
                <a:srgbClr val="D953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8985</c:v>
                </c:pt>
                <c:pt idx="1">
                  <c:v>10163</c:v>
                </c:pt>
                <c:pt idx="2">
                  <c:v>11141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Adoção de linguagens (% dos respondentes)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2E43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SQL</c:v>
                  </c:pt>
                  <c:pt idx="1">
                    <c:v>Python</c:v>
                  </c:pt>
                  <c:pt idx="2">
                    <c:v>R</c:v>
                  </c:pt>
                  <c:pt idx="3">
                    <c:v>Java</c:v>
                  </c:pt>
                  <c:pt idx="4">
                    <c:v>Nenhuma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83.7</c:v>
                </c:pt>
                <c:pt idx="1">
                  <c:v>74.9</c:v>
                </c:pt>
                <c:pt idx="2">
                  <c:v>10.8</c:v>
                </c:pt>
                <c:pt idx="3">
                  <c:v>9.4</c:v>
                </c:pt>
                <c:pt idx="4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SQL</c:v>
                  </c:pt>
                  <c:pt idx="1">
                    <c:v>Python</c:v>
                  </c:pt>
                  <c:pt idx="2">
                    <c:v>R</c:v>
                  </c:pt>
                  <c:pt idx="3">
                    <c:v>Java</c:v>
                  </c:pt>
                  <c:pt idx="4">
                    <c:v>Nenhuma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87.7</c:v>
                </c:pt>
                <c:pt idx="1">
                  <c:v>81.8</c:v>
                </c:pt>
                <c:pt idx="2">
                  <c:v>9.8</c:v>
                </c:pt>
                <c:pt idx="3">
                  <c:v>8.1</c:v>
                </c:pt>
                <c:pt idx="4">
                  <c:v>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Uso de IA generativa na empresa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Uso independente/descentralizado</c:v>
                </c:pt>
              </c:strCache>
            </c:strRef>
          </c:tx>
          <c:spPr>
            <a:solidFill>
              <a:srgbClr val="1D9E75"/>
            </a:solidFill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35.2</c:v>
                </c:pt>
                <c:pt idx="1">
                  <c:v>39.5</c:v>
                </c:pt>
                <c:pt idx="2">
                  <c:v>50.6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Direcionamento centralizado</c:v>
                </c:pt>
              </c:strCache>
            </c:strRef>
          </c:tx>
          <c:spPr>
            <a:solidFill>
              <a:srgbClr val="2E4373"/>
            </a:solidFill>
            <a:ln w="31750" cap="flat">
              <a:solidFill>
                <a:srgbClr val="2E43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4373"/>
              </a:solidFill>
              <a:ln w="9525" cap="flat">
                <a:solidFill>
                  <a:srgbClr val="2E43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13.1</c:v>
                </c:pt>
                <c:pt idx="1">
                  <c:v>23</c:v>
                </c:pt>
                <c:pt idx="2">
                  <c:v>38.5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Não é prioridade</c:v>
                </c:pt>
              </c:strCache>
            </c:strRef>
          </c:tx>
          <c:spPr>
            <a:solidFill>
              <a:srgbClr val="D9534F"/>
            </a:solidFill>
            <a:ln w="31750" cap="flat">
              <a:solidFill>
                <a:srgbClr val="D953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20.9</c:v>
                </c:pt>
                <c:pt idx="1">
                  <c:v>12</c:v>
                </c:pt>
                <c:pt idx="2">
                  <c:v>6.7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50" b="0" i="0" u="none" strike="noStrike">
                <a:solidFill>
                  <a:srgbClr val="000000"/>
                </a:solidFill>
                <a:latin typeface="Arial"/>
              </a:rPr>
              <a:t>Nível de uso pessoal de IA (% de quem respondeu)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Não usa</c:v>
                </c:pt>
              </c:strCache>
            </c:strRef>
          </c:tx>
          <c:spPr>
            <a:solidFill>
              <a:srgbClr val="5A64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6.2</c:v>
                </c:pt>
                <c:pt idx="2">
                  <c:v>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Usa gratuito/copilot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67.9</c:v>
                </c:pt>
                <c:pt idx="1">
                  <c:v>60.1</c:v>
                </c:pt>
                <c:pt idx="2">
                  <c:v>33.3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Paga do próprio bolso</c:v>
                </c:pt>
              </c:strCache>
            </c:strRef>
          </c:tx>
          <c:spPr>
            <a:solidFill>
              <a:srgbClr val="E897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6.7</c:v>
                </c:pt>
                <c:pt idx="1">
                  <c:v>14.5</c:v>
                </c:pt>
                <c:pt idx="2">
                  <c:v>22.5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Empresa paga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6.4</c:v>
                </c:pt>
                <c:pt idx="1">
                  <c:v>19.3</c:v>
                </c:pt>
                <c:pt idx="2">
                  <c:v>42.4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Modelo de trabalho por região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100% remoto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Centro-oeste</c:v>
                  </c:pt>
                  <c:pt idx="1">
                    <c:v>Nordeste</c:v>
                  </c:pt>
                  <c:pt idx="2">
                    <c:v>Norte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46</c:v>
                </c:pt>
                <c:pt idx="2">
                  <c:v>44</c:v>
                </c:pt>
                <c:pt idx="3">
                  <c:v>34</c:v>
                </c:pt>
                <c:pt idx="4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100% presencial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Centro-oeste</c:v>
                  </c:pt>
                  <c:pt idx="1">
                    <c:v>Nordeste</c:v>
                  </c:pt>
                  <c:pt idx="2">
                    <c:v>Norte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37</c:v>
                </c:pt>
                <c:pt idx="1">
                  <c:v>23</c:v>
                </c:pt>
                <c:pt idx="2">
                  <c:v>21</c:v>
                </c:pt>
                <c:pt idx="3">
                  <c:v>16</c:v>
                </c:pt>
                <c:pt idx="4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50" b="0" i="0" u="none" strike="noStrike">
                <a:solidFill>
                  <a:srgbClr val="000000"/>
                </a:solidFill>
                <a:latin typeface="Arial"/>
              </a:rPr>
              <a:t>Evolução dos motivos para não usar IA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Falta de expertise</c:v>
                </c:pt>
              </c:strCache>
            </c:strRef>
          </c:tx>
          <c:spPr>
            <a:solidFill>
              <a:srgbClr val="D9534F"/>
            </a:solidFill>
            <a:ln w="31750" cap="flat">
              <a:solidFill>
                <a:srgbClr val="D953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34.8</c:v>
                </c:pt>
                <c:pt idx="1">
                  <c:v>33.7</c:v>
                </c:pt>
                <c:pt idx="2">
                  <c:v>38.8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Dados não prontos</c:v>
                </c:pt>
              </c:strCache>
            </c:strRef>
          </c:tx>
          <c:spPr>
            <a:solidFill>
              <a:srgbClr val="E8973B"/>
            </a:solidFill>
            <a:ln w="31750" cap="flat">
              <a:solidFill>
                <a:srgbClr val="E897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73B"/>
              </a:solidFill>
              <a:ln w="9525" cap="flat">
                <a:solidFill>
                  <a:srgbClr val="E897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30.6</c:v>
                </c:pt>
                <c:pt idx="1">
                  <c:v>29.7</c:v>
                </c:pt>
                <c:pt idx="2">
                  <c:v>36.8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Regulamentação</c:v>
                </c:pt>
              </c:strCache>
            </c:strRef>
          </c:tx>
          <c:spPr>
            <a:solidFill>
              <a:srgbClr val="9AA5B1"/>
            </a:solidFill>
            <a:ln w="31750" cap="flat">
              <a:solidFill>
                <a:srgbClr val="9AA5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5B1"/>
              </a:solidFill>
              <a:ln w="9525" cap="flat">
                <a:solidFill>
                  <a:srgbClr val="9AA5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14.5</c:v>
                </c:pt>
                <c:pt idx="1">
                  <c:v>12.7</c:v>
                </c:pt>
                <c:pt idx="2">
                  <c:v>9.9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Propriedade intelectual</c:v>
                </c:pt>
              </c:strCache>
            </c:strRef>
          </c:tx>
          <c:spPr>
            <a:solidFill>
              <a:srgbClr val="5A6472"/>
            </a:solidFill>
            <a:ln w="31750" cap="flat">
              <a:solidFill>
                <a:srgbClr val="5A64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A6472"/>
              </a:solidFill>
              <a:ln w="9525" cap="flat">
                <a:solidFill>
                  <a:srgbClr val="5A64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14.7</c:v>
                </c:pt>
                <c:pt idx="1">
                  <c:v>12.6</c:v>
                </c:pt>
                <c:pt idx="2">
                  <c:v>9.2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brasileiro de Dados e IA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análise de 3 edições da pesquisa State of Data Brasil (2023–2025) para orientar decisões de contratação, capacitação e investimento em dados e inteligência artificial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14.005 respostas analisadas  •  3 edições da pesquisa  •  Pipeline AWS (S3, Glue, Athena)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 análise importa para uma instituição financeira expandindo Dados e 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de negócio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128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instituição financeira quer expandir sua área de Dados, Analytics e IA, mas precisa entender o mercado antes de definir contratação, capacitação e investimento.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 de dados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4728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 — a pesquisa mais completa sobre o perfil dos profissionais de dados no país, com edições anuais desde 2021.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315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recorte analisado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68172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últimas edições disponíveis (2023, 2024, 2025), somando 14.005 respostas, processadas ponta a ponta em um pipeline de Big Data na AWS.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solução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em nuvem, da ingestão à visualização executiva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0" y="502920"/>
            <a:ext cx="22860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9AA5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57607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713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Brasil, 3 anos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080760" y="1097280"/>
            <a:ext cx="0" cy="32004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— data lake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8720" y="1874520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947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313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brutos, por ano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80560" y="1874520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378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947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313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unificado, 79 colunas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0" y="1874520"/>
            <a:ext cx="3200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947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0" y="2313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tabelas agregadas (tidy)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286000"/>
            <a:ext cx="45720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2286000"/>
            <a:ext cx="45720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80760" y="2834640"/>
            <a:ext cx="0" cy="32004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80560" y="3154680"/>
            <a:ext cx="32004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22783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364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— ETL e catalogação (LabRole)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80760" y="3749040"/>
            <a:ext cx="0" cy="32004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23360" y="406908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E897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414223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4279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workspace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0760" y="4663440"/>
            <a:ext cx="0" cy="32004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023360" y="498348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E897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505663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0" y="5193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analíticas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80760" y="5577840"/>
            <a:ext cx="0" cy="32004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566160" y="5897880"/>
            <a:ext cx="5029200" cy="594360"/>
          </a:xfrm>
          <a:prstGeom prst="roundRect">
            <a:avLst>
              <a:gd name="adj" fmla="val 10769"/>
            </a:avLst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3566160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 material executivo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66160" y="62453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DataViz, storytelling e recomendações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perfis dominam um mercado concentrado em poucos setores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ocupa hoje as vagas de dados no Brasil, e em que tipo de empresa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492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6092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dominantes (soma 2023–2025)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609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 ou Bancos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0515600" y="18288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2.560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60920" y="2304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Tecnologia/Fábrica de Software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515600" y="230428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2.362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60920" y="2779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Consultoria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515600" y="277977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1.028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60920" y="3255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Varejo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515600" y="325526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953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6092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515600" y="373075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879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60920" y="45262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360920" y="5144414"/>
            <a:ext cx="429768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profissionais trabalham em empresas com mais de 3.000 funcionários — mercado concentrado em grandes corporações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5257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respostas concentra três perfis (Analista de Dados, Eng./Arquiteto de Dados e Cientista de Dados), que juntos somam mais de 40% do mercado.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é um mercado que está envelhecendo mais rápido do que renova a base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distribuição por senioridade mudou de formato em 3 anos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858000" y="1508760"/>
          <a:ext cx="4800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858000" y="5047488"/>
            <a:ext cx="0" cy="457200"/>
          </a:xfrm>
          <a:prstGeom prst="line">
            <a:avLst/>
          </a:prstGeom>
          <a:noFill/>
          <a:ln w="19050">
            <a:solidFill>
              <a:srgbClr val="C7CCD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059168" y="502920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ao presencial: modelo 100% remoto caiu de 46% para 40% entre 2024 e 2025.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puxa os salários, e a distância só aumenta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 sênior por cargo em 2025, e sua evolução desde 2023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508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452360" y="2269541"/>
            <a:ext cx="420624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salário sênior de ML/AI Engineer entre 2023 (R$ 18.414) e 2025 (R$ 25.000) — o mais rápido do mercado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52360" y="3200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mais "achatados" (menor salário sênior)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5236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Suporte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149840" y="3611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R$ 10.500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52360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BI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149840" y="40507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R$ 11.014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452360" y="4489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Negócios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149840" y="44897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R$ 11.804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52360" y="5047488"/>
            <a:ext cx="0" cy="594360"/>
          </a:xfrm>
          <a:prstGeom prst="line">
            <a:avLst/>
          </a:prstGeom>
          <a:noFill/>
          <a:ln w="19050">
            <a:solidFill>
              <a:srgbClr val="C7CC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53528" y="5029200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em nível sênior, cargos de entrada (suporte, BI, negócios) seguem com teto salarial bem mais baixo que engenharia/IA.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esse retorno não chega igual para todo mundo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e salário por gênero e raça, 2023–2025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492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60920" y="1508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60920" y="2126894"/>
            <a:ext cx="429768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feminina em 2025 — caiu de 24% em 2023, na direção errada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60920" y="28346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R$ 2.681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60920" y="3452774"/>
            <a:ext cx="429768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salarial absoluto em 2025, presente em todos os níveis de senioridade (inclusive júnior)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60920" y="4178808"/>
            <a:ext cx="0" cy="1371600"/>
          </a:xfrm>
          <a:prstGeom prst="line">
            <a:avLst/>
          </a:prstGeom>
          <a:noFill/>
          <a:ln w="19050">
            <a:solidFill>
              <a:srgbClr val="C7CC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4160520"/>
            <a:ext cx="4096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racial: pessoas pretas ganham em média 23% menos que pessoas brancas em 2025 (R$ 10.753 vs. R$ 13.904), com representatividade também abaixo da população brasileira.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dia a dia, o trabalho convergiu para duas linguagens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 Python, cada vez mais dominantes entre 2023 e 2024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508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Python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452360" y="2221992"/>
            <a:ext cx="4206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dominam de forma esmagadora e crescente — todas as demais linguagens estão em queda ou estagnação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452360" y="3081528"/>
            <a:ext cx="0" cy="2103120"/>
          </a:xfrm>
          <a:prstGeom prst="line">
            <a:avLst/>
          </a:prstGeom>
          <a:noFill/>
          <a:ln w="19050">
            <a:solidFill>
              <a:srgbClr val="C7C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53528" y="3063240"/>
            <a:ext cx="4005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metodológica: a pesquisa de 2025 não repete essa pergunta — passou a perguntar "linguagem preferida" (multi-select), conceitualmente diferente. Nessa métrica, Python aparece em 92% e SQL em 84% das respostas de 2025 — direcionalmente consistente, mas não diretamente comparável com 2023–2024.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 inteligência artificial deixou de ser iniciativa isolada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direcionado e centralizado de IA generativa cresce dentro das empresas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508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→ 39%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452360" y="2221992"/>
            <a:ext cx="4206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com direcionamento centralizado de IA quase triplicou entre 2023 e 2025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452360" y="3081528"/>
            <a:ext cx="0" cy="2103120"/>
          </a:xfrm>
          <a:prstGeom prst="line">
            <a:avLst/>
          </a:prstGeom>
          <a:noFill/>
          <a:ln w="19050">
            <a:solidFill>
              <a:srgbClr val="C7C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53528" y="3063240"/>
            <a:ext cx="4005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respostas "não é prioridade" e "não sei opinar" caem ano a ano, enquanto uso direcionado e centralizado sobe. As empresas estão organizando o uso de IA em vez de deixar cada um usar do seu jeito.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caminho se repete no uso individual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ferramenta gratuita usada por conta própria a item pago pela empresa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508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452360" y="2221992"/>
            <a:ext cx="4206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usa" IA generativa em 2025 — era 19% em 2023, uso pessoal virou quase universal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452360" y="3081528"/>
            <a:ext cx="0" cy="2103120"/>
          </a:xfrm>
          <a:prstGeom prst="line">
            <a:avLst/>
          </a:prstGeom>
          <a:noFill/>
          <a:ln w="19050">
            <a:solidFill>
              <a:srgbClr val="C7C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53528" y="3063240"/>
            <a:ext cx="4005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parcela paga pela empresa saiu de 6% em 2023 para 42% em 2025. O uso de IA foi de algo que cada profissional resolvia por conta própria para algo que já entra no orçamento da empresa.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 transformação, porém, não chega igual a todas as regiões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trabalho e senioridade variam bastante pelo Brasil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508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452360" y="2221992"/>
            <a:ext cx="4206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no Centro-Oeste — bem acima da média, provável reflexo de órgãos públicos e sedes de agronegócio em Brasília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5236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Sênior por região (2025)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52360" y="3474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149840" y="34747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52360" y="3858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149840" y="38587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52360" y="42428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Norte*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149840" y="424281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52360" y="46268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Centro-oeste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0" y="46268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52360" y="50109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149840" y="50109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52360" y="5458968"/>
            <a:ext cx="0" cy="411480"/>
          </a:xfrm>
          <a:prstGeom prst="line">
            <a:avLst/>
          </a:prstGeom>
          <a:noFill/>
          <a:ln w="19050">
            <a:solidFill>
              <a:srgbClr val="C7CCD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53528" y="5440680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*Norte tem a menor amostra entre as regiões — ler com cautela.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obstáculo que resta já não é desconfiança — é preparo técnico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mudaram os motivos para não adotar IA generativa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527048"/>
            <a:ext cx="0" cy="1737360"/>
          </a:xfrm>
          <a:prstGeom prst="line">
            <a:avLst/>
          </a:prstGeom>
          <a:noFill/>
          <a:ln w="19050">
            <a:solidFill>
              <a:srgbClr val="C7CC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53528" y="1508760"/>
            <a:ext cx="4005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Regulamentação e propriedade intelectual caem como motivo ao longo dos 3 anos. Falta de expertise e dados não prontos sobem. A barreira parece estar migrando de receio para preparo técnico.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5236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tipo de problema que um trabalho de engenharia de dados ataca diretamente.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significa para quem vai investir em dados e IA agora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Competir por ML/AI Engineer cedo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097280" y="18013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cargo mais valorizado e o que mais cresce — o gap salarial já aparece em nível júnior.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orçamento de IA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27157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do uso já é pago pela empresa — o argumento de ROI interno já tem tração, não precisa ser "vendido" do zero.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3101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organização de dados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97280" y="3630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"Dados não prontos" é o motivo que mais cresce entre quem não usa IA — e é o que um trabalho de engenharia de dados resolve.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2245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Endereçar diversidade com ação, não retórica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97280" y="45445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 gênero e raça persistente e piorando em participação — problema real e mensurável.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51389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97280" y="5120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o funil de talento júnior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97280" y="5458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Júnior caiu de 27% para 21% do mercado — risco de gargalo de talento nos próximos anos.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|  State of Data Brasil 2023–2025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2026-09-13T16:54:57Z</dcterms:created>
  <dcterms:modified xsi:type="dcterms:W3CDTF">2026-09-13T16:54:57Z</dcterms:modified>
</cp:coreProperties>
</file>